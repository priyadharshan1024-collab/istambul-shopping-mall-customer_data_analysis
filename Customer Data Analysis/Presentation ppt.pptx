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embeddedFontLst>
    <p:embeddedFont>
      <p:font typeface="Lora" pitchFamily="2" charset="0"/>
      <p:regular r:id="rId16"/>
    </p:embeddedFont>
    <p:embeddedFont>
      <p:font typeface="Lora Bold" panose="020B0604020202020204" charset="0"/>
      <p:regular r:id="rId17"/>
    </p:embeddedFont>
    <p:embeddedFont>
      <p:font typeface="SimSun-ExtG" panose="02010609060101010101" pitchFamily="49" charset="-122"/>
      <p:regular r:id="rId18"/>
    </p:embeddedFont>
    <p:embeddedFont>
      <p:font typeface="Source Sans 3" panose="020B0604020202020204" charset="0"/>
      <p:regular r:id="rId19"/>
    </p:embeddedFont>
    <p:embeddedFont>
      <p:font typeface="Source Sans 3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863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7545" y="1964531"/>
            <a:ext cx="8096845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Data Analysis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866977" y="4196592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SimSun-ExtG" panose="02010609060101010101" pitchFamily="49" charset="-122"/>
                <a:ea typeface="SimSun-ExtG" panose="02010609060101010101" pitchFamily="49" charset="-122"/>
                <a:cs typeface="Source Sans 3" pitchFamily="34" charset="-120"/>
              </a:rPr>
              <a:t>       Priyadharshan</a:t>
            </a:r>
            <a:endParaRPr lang="en-US" sz="1150" dirty="0">
              <a:solidFill>
                <a:schemeClr val="bg1"/>
              </a:solidFill>
              <a:latin typeface="SimSun-ExtG" panose="02010609060101010101" pitchFamily="49" charset="-122"/>
              <a:ea typeface="SimSun-ExtG" panose="02010609060101010101" pitchFamily="49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F35625-6F38-A6C8-2F5E-0FF71D679948}"/>
              </a:ext>
            </a:extLst>
          </p:cNvPr>
          <p:cNvSpPr/>
          <p:nvPr/>
        </p:nvSpPr>
        <p:spPr>
          <a:xfrm>
            <a:off x="7495082" y="4811843"/>
            <a:ext cx="1648918" cy="331657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60254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Data Analysis           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46659" y="1518629"/>
            <a:ext cx="8096845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Tools Used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9692" y="2332370"/>
            <a:ext cx="8096845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</a:t>
            </a:r>
            <a:endParaRPr lang="en-US" sz="2000" dirty="0"/>
          </a:p>
          <a:p>
            <a:pPr marL="233680" indent="-233680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Microsoft Excel (Power Query) and Analysis</a:t>
            </a:r>
            <a:endParaRPr lang="en-US" sz="2000" dirty="0"/>
          </a:p>
          <a:p>
            <a:pPr marL="233680" indent="-233680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BFECC0-E0AB-D994-8FE4-4FE51BE9922F}"/>
              </a:ext>
            </a:extLst>
          </p:cNvPr>
          <p:cNvSpPr/>
          <p:nvPr/>
        </p:nvSpPr>
        <p:spPr>
          <a:xfrm>
            <a:off x="7495082" y="4819100"/>
            <a:ext cx="1648918" cy="331657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5" y="49946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8AC7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Project Objective &amp; Dataset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456134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3576" y="1854959"/>
            <a:ext cx="8096845" cy="122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customer purchasing behavior.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trends based on gender, age, product category, payment method, shopping mall, and time.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an interactive dashboard to support business decision-making.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23575" y="3212826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3577" y="3656112"/>
            <a:ext cx="8096845" cy="596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Shopping transactions from </a:t>
            </a: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 shopping malls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Istanbul.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 Period: </a:t>
            </a: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2021–2023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A6F462-3B3E-2EE9-1293-5177C5CF08B9}"/>
              </a:ext>
            </a:extLst>
          </p:cNvPr>
          <p:cNvSpPr/>
          <p:nvPr/>
        </p:nvSpPr>
        <p:spPr>
          <a:xfrm>
            <a:off x="7495082" y="4811843"/>
            <a:ext cx="1648918" cy="331657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6" y="39833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8AC7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Data Preparation &amp;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484114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3577" y="1895996"/>
            <a:ext cx="8096845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Import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23577" y="2384301"/>
            <a:ext cx="8096845" cy="599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Connected to the provided </a:t>
            </a: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MySQL database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using the supplied database credentials.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Imported the customer shopping dataset.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3577" y="3139753"/>
            <a:ext cx="8096845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Validation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23577" y="3628058"/>
            <a:ext cx="8096845" cy="646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Checked the dataset for </a:t>
            </a: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NULL values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Checked for </a:t>
            </a: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duplicate records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ensure data quality.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BD806-C903-BF15-4E71-684BDC7D8C33}"/>
              </a:ext>
            </a:extLst>
          </p:cNvPr>
          <p:cNvSpPr/>
          <p:nvPr/>
        </p:nvSpPr>
        <p:spPr>
          <a:xfrm>
            <a:off x="7495082" y="4811843"/>
            <a:ext cx="1648918" cy="331657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5797"/>
            <a:ext cx="8096845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Accessing Customer Data: SQL Databases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71" y="980852"/>
            <a:ext cx="8171543" cy="38886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8E4306-6489-C5D7-A48B-D305125CCE40}"/>
              </a:ext>
            </a:extLst>
          </p:cNvPr>
          <p:cNvSpPr/>
          <p:nvPr/>
        </p:nvSpPr>
        <p:spPr>
          <a:xfrm>
            <a:off x="7495082" y="4811843"/>
            <a:ext cx="1648918" cy="331657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322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Finding Null values and Duplicates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51644" y="1419001"/>
            <a:ext cx="43231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419001"/>
            <a:ext cx="4480560" cy="3211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9226" y="1609725"/>
            <a:ext cx="43231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b="7875"/>
          <a:stretch>
            <a:fillRect/>
          </a:stretch>
        </p:blipFill>
        <p:spPr>
          <a:xfrm>
            <a:off x="4656269" y="1419001"/>
            <a:ext cx="4396291" cy="32110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ACEF263-506C-9472-D3B5-8CCF4AF4CA2C}"/>
              </a:ext>
            </a:extLst>
          </p:cNvPr>
          <p:cNvSpPr/>
          <p:nvPr/>
        </p:nvSpPr>
        <p:spPr>
          <a:xfrm>
            <a:off x="7495082" y="4811843"/>
            <a:ext cx="1648918" cy="331657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91729"/>
            <a:ext cx="8096845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Transformation (Microsoft Excel)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3577" y="1807029"/>
            <a:ext cx="8096845" cy="293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Exported the validated dataset to Microsoft Excel.</a:t>
            </a:r>
            <a:endParaRPr lang="en-US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Performed data transformation using </a:t>
            </a:r>
            <a:r>
              <a:rPr lang="en-US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Power Query</a:t>
            </a: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</a:t>
            </a:r>
            <a:r>
              <a:rPr lang="en-US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Age Group</a:t>
            </a: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categories.</a:t>
            </a:r>
            <a:endParaRPr lang="en-US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a </a:t>
            </a:r>
            <a:r>
              <a:rPr lang="en-US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Total Amount (Revenue)</a:t>
            </a: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column.</a:t>
            </a:r>
            <a:endParaRPr lang="en-US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Prepared the cleaned dataset for visualization.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DC5DA1-B8DD-98E1-F40D-B9BAF5F08227}"/>
              </a:ext>
            </a:extLst>
          </p:cNvPr>
          <p:cNvSpPr/>
          <p:nvPr/>
        </p:nvSpPr>
        <p:spPr>
          <a:xfrm>
            <a:off x="7495082" y="4811843"/>
            <a:ext cx="1648918" cy="331657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9368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qwery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19" y="652750"/>
            <a:ext cx="8174882" cy="43086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A1CAA1D-85D3-AE95-E892-84046BE32310}"/>
              </a:ext>
            </a:extLst>
          </p:cNvPr>
          <p:cNvSpPr/>
          <p:nvPr/>
        </p:nvSpPr>
        <p:spPr>
          <a:xfrm>
            <a:off x="7495082" y="4811843"/>
            <a:ext cx="1648918" cy="331657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4462" y="227254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Analysis of Raw data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85" y="869027"/>
            <a:ext cx="8614229" cy="39428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A6FECF-26CB-95CD-CE22-44643D1F24D3}"/>
              </a:ext>
            </a:extLst>
          </p:cNvPr>
          <p:cNvSpPr/>
          <p:nvPr/>
        </p:nvSpPr>
        <p:spPr>
          <a:xfrm>
            <a:off x="7495082" y="4811843"/>
            <a:ext cx="1648918" cy="331657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5414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98AC7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3577" y="955253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577" y="1531665"/>
            <a:ext cx="8096845" cy="3156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KPI Cards</a:t>
            </a:r>
            <a:endParaRPr lang="en-US" sz="1600" dirty="0"/>
          </a:p>
          <a:p>
            <a:pPr marL="467360" lvl="1" indent="-233680" algn="l">
              <a:lnSpc>
                <a:spcPct val="133000"/>
              </a:lnSpc>
              <a:buSzPct val="100000"/>
              <a:buChar char="◦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Revenue</a:t>
            </a:r>
            <a:endParaRPr lang="en-US" sz="1600" dirty="0"/>
          </a:p>
          <a:p>
            <a:pPr marL="467360" lvl="1" indent="-233680" algn="l">
              <a:lnSpc>
                <a:spcPct val="133000"/>
              </a:lnSpc>
              <a:buSzPct val="100000"/>
              <a:buChar char="◦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Quantity Sold</a:t>
            </a:r>
            <a:endParaRPr lang="en-US" sz="1600" dirty="0"/>
          </a:p>
          <a:p>
            <a:pPr marL="467360" lvl="1" indent="-233680" algn="l">
              <a:lnSpc>
                <a:spcPct val="133000"/>
              </a:lnSpc>
              <a:buSzPct val="100000"/>
              <a:buChar char="◦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Transactions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by Gender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by Age Group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by Shopping Mall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Payment Method Distribution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Monthly Revenue Trend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 Category Analysis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Slicers for Gender, Category, and Shopping Mall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D8321A-345B-6CFA-56C2-752CCC16865E}"/>
              </a:ext>
            </a:extLst>
          </p:cNvPr>
          <p:cNvSpPr/>
          <p:nvPr/>
        </p:nvSpPr>
        <p:spPr>
          <a:xfrm>
            <a:off x="7495082" y="4811843"/>
            <a:ext cx="1648918" cy="331657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270458"/>
            <a:ext cx="8096845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visualization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86" y="766730"/>
            <a:ext cx="8672285" cy="41063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530FB0-9001-217C-DC63-65992C9AD66F}"/>
              </a:ext>
            </a:extLst>
          </p:cNvPr>
          <p:cNvSpPr/>
          <p:nvPr/>
        </p:nvSpPr>
        <p:spPr>
          <a:xfrm>
            <a:off x="7495082" y="4873041"/>
            <a:ext cx="1648918" cy="270459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0975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8AC7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Key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6" y="1253290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3577" y="2260921"/>
            <a:ext cx="8096845" cy="2064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Female customers generated higher revenue than male customers.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56–65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age group contributed the highest revenue.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 generated the highest sales revenue.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Cash was the most preferred payment method.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Mall of Istanbul recorded the highest revenue.</a:t>
            </a:r>
            <a:endParaRPr lang="en-US" sz="160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Monthly sales showed noticeable fluctuations throughout the year.</a:t>
            </a:r>
            <a:endParaRPr lang="en-US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F438D9-62F8-F627-BB1F-C233C0FBAE48}"/>
              </a:ext>
            </a:extLst>
          </p:cNvPr>
          <p:cNvSpPr/>
          <p:nvPr/>
        </p:nvSpPr>
        <p:spPr>
          <a:xfrm>
            <a:off x="7495082" y="4811843"/>
            <a:ext cx="1648918" cy="331657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8BDE89-EAA5-4C63-FD3C-AB0130BAF25A}"/>
              </a:ext>
            </a:extLst>
          </p:cNvPr>
          <p:cNvSpPr txBox="1"/>
          <p:nvPr/>
        </p:nvSpPr>
        <p:spPr>
          <a:xfrm>
            <a:off x="3425692" y="2279362"/>
            <a:ext cx="2292615" cy="584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4000"/>
              </a:lnSpc>
            </a:pPr>
            <a:r>
              <a:rPr lang="en-US" sz="3200" b="1" dirty="0">
                <a:solidFill>
                  <a:srgbClr val="F98AC7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Thank You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96611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291</Words>
  <Application>Microsoft Office PowerPoint</Application>
  <PresentationFormat>On-screen Show (16:9)</PresentationFormat>
  <Paragraphs>67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SimSun-ExtG</vt:lpstr>
      <vt:lpstr>Source Sans 3</vt:lpstr>
      <vt:lpstr>Arial</vt:lpstr>
      <vt:lpstr>Lora</vt:lpstr>
      <vt:lpstr>Lora Bold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Priyadharshan R</cp:lastModifiedBy>
  <cp:revision>4</cp:revision>
  <dcterms:created xsi:type="dcterms:W3CDTF">2026-08-01T08:50:20Z</dcterms:created>
  <dcterms:modified xsi:type="dcterms:W3CDTF">2026-08-01T15:27:09Z</dcterms:modified>
</cp:coreProperties>
</file>